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66" r:id="rId5"/>
    <p:sldId id="267" r:id="rId6"/>
    <p:sldId id="259" r:id="rId7"/>
    <p:sldId id="261" r:id="rId8"/>
    <p:sldId id="262" r:id="rId9"/>
    <p:sldId id="263" r:id="rId10"/>
    <p:sldId id="264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36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06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700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27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465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498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66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302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22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62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99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7989D95-1B3F-46CB-905F-A5038E90A474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1332A0E-12AA-4D11-9C36-72697FC6BBDA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498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511BB-D2DB-ED9D-2436-801F4D826B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Условный экстремум при ограничениях типа</a:t>
            </a:r>
            <a:br>
              <a:rPr lang="ru-RU" dirty="0"/>
            </a:br>
            <a:r>
              <a:rPr lang="ru-RU" dirty="0"/>
              <a:t>равенств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8BA4AE-CCCB-E865-8AC7-6C1501951E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Шакшуев Р.В. ПИКД2</a:t>
            </a:r>
          </a:p>
        </p:txBody>
      </p:sp>
    </p:spTree>
    <p:extLst>
      <p:ext uri="{BB962C8B-B14F-4D97-AF65-F5344CB8AC3E}">
        <p14:creationId xmlns:p14="http://schemas.microsoft.com/office/powerpoint/2010/main" val="74507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2C1326-01CB-837F-2107-1F40E39D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Постановка задачи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84F9586-4750-D9B8-48DA-F7660A4628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Требуется исследовать функцию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/>
                  <a:t> на экстремум в точке</a:t>
                </a:r>
                <a:r>
                  <a:rPr lang="en-US" dirty="0"/>
                  <a:t> x* </a:t>
                </a:r>
                <a:r>
                  <a:rPr lang="ru-RU" dirty="0"/>
                  <a:t>ее локального </a:t>
                </a:r>
                <a:r>
                  <a:rPr lang="en-US" dirty="0"/>
                  <a:t>min (max) </a:t>
                </a:r>
                <a:r>
                  <a:rPr lang="ru-RU" dirty="0"/>
                  <a:t>на множестве </a:t>
                </a:r>
                <a:r>
                  <a:rPr lang="en-US" dirty="0"/>
                  <a:t>X</a:t>
                </a:r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fun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func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ru-RU" dirty="0"/>
                  <a:t>      </a:t>
                </a:r>
                <a:r>
                  <a:rPr lang="ru-RU" b="1" dirty="0"/>
                  <a:t> (1)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 . 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находятся с помощью необходимых и достаточных условий условного </a:t>
                </a:r>
                <a:r>
                  <a:rPr lang="en-US" dirty="0"/>
                  <a:t>min </a:t>
                </a:r>
                <a:r>
                  <a:rPr lang="ru-RU" dirty="0"/>
                  <a:t>и </a:t>
                </a:r>
                <a:r>
                  <a:rPr lang="en-US" dirty="0"/>
                  <a:t>max </a:t>
                </a:r>
                <a:r>
                  <a:rPr lang="ru-RU" dirty="0"/>
                  <a:t>1-го и 2-го порядка при ограничениях типа неравенств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84F9586-4750-D9B8-48DA-F7660A4628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4" t="-1818" r="-1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88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198A8-C62F-9288-0F65-DDA314685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r>
              <a:rPr lang="ru-RU" dirty="0"/>
              <a:t>Зачем нужен условный экстремум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48EED7-D860-254E-D86C-EA85A3743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ar-AE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Максимизация прибыли </a:t>
            </a:r>
          </a:p>
          <a:p>
            <a:pPr marL="630936" lvl="1" indent="-457200"/>
            <a:r>
              <a:rPr lang="ru-RU" dirty="0"/>
              <a:t>Найти оптимальное решение при ограниченных ресурсах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Минимизация затрат </a:t>
            </a:r>
          </a:p>
          <a:p>
            <a:pPr marL="459486" lvl="1" indent="-285750"/>
            <a:r>
              <a:rPr lang="ru-RU" dirty="0"/>
              <a:t>Оптимальное распределение бюджета и времени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Распределение ресурсов</a:t>
            </a:r>
          </a:p>
          <a:p>
            <a:pPr marL="630936" lvl="1" indent="-457200"/>
            <a:r>
              <a:rPr lang="ru-RU" dirty="0"/>
              <a:t>Эффективное управление ограниченными ресурсами</a:t>
            </a:r>
          </a:p>
          <a:p>
            <a:pPr marL="173736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684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61E48-53F3-27C5-10E5-71F242643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экстремума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8081003-97E4-BC00-BD51-43F1B1C23B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Экстремум функции – это</a:t>
                </a:r>
                <a:r>
                  <a:rPr lang="en-US" dirty="0"/>
                  <a:t> </a:t>
                </a:r>
                <a:r>
                  <a:rPr lang="ru-RU" dirty="0"/>
                  <a:t>точки </a:t>
                </a:r>
                <a:r>
                  <a:rPr lang="ru-RU" b="1" dirty="0"/>
                  <a:t>максимума</a:t>
                </a:r>
                <a:r>
                  <a:rPr lang="ru-RU" dirty="0"/>
                  <a:t> и </a:t>
                </a:r>
                <a:r>
                  <a:rPr lang="ru-RU" b="1" dirty="0"/>
                  <a:t>минимума</a:t>
                </a:r>
                <a:endParaRPr lang="en-US" b="1" dirty="0"/>
              </a:p>
              <a:p>
                <a:r>
                  <a:rPr lang="ru-RU" dirty="0"/>
                  <a:t>Для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без ограничений экстремум ищется через частные производные </a:t>
                </a:r>
                <a:endParaRPr lang="en-US" dirty="0"/>
              </a:p>
              <a:p>
                <a:pPr marL="128016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ru-RU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8081003-97E4-BC00-BD51-43F1B1C23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19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812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102E4-9160-6FB3-E2A0-28165668E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Условный экстремум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359F299-6A5A-7820-33D2-E819F199C3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Если есть ограничение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то обычный подход не работает – не можем свободно менять </a:t>
                </a:r>
                <a:r>
                  <a:rPr lang="en-US" dirty="0"/>
                  <a:t>x </a:t>
                </a:r>
                <a:r>
                  <a:rPr lang="ru-RU" dirty="0"/>
                  <a:t>на </a:t>
                </a:r>
                <a:r>
                  <a:rPr lang="en-US" dirty="0"/>
                  <a:t>y</a:t>
                </a:r>
              </a:p>
              <a:p>
                <a:endParaRPr lang="en-US" dirty="0"/>
              </a:p>
              <a:p>
                <a:r>
                  <a:rPr lang="ru-RU" dirty="0"/>
                  <a:t>Метод множителей Лагранжа учитывает ограничения через введения множителя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𝝀</m:t>
                    </m:r>
                  </m:oMath>
                </a14:m>
                <a:endParaRPr lang="ru-RU" b="1" dirty="0"/>
              </a:p>
              <a:p>
                <a:r>
                  <a:rPr lang="ru-RU" dirty="0"/>
                  <a:t>В точке экстремума градиенты функции </a:t>
                </a:r>
                <a:r>
                  <a:rPr lang="en-US" dirty="0"/>
                  <a:t>f </a:t>
                </a:r>
                <a:r>
                  <a:rPr lang="ru-RU" dirty="0"/>
                  <a:t>и </a:t>
                </a:r>
                <a:r>
                  <a:rPr lang="en-US" dirty="0"/>
                  <a:t>g </a:t>
                </a:r>
                <a:r>
                  <a:rPr lang="ru-RU" dirty="0"/>
                  <a:t>параллельны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359F299-6A5A-7820-33D2-E819F199C3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18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587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569F8-A8CC-3789-F919-381F959EA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Лагранжа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63808EB-9175-4F39-1D62-BED34F7B79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</m:d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λ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Основные понятия</a:t>
                </a:r>
                <a:r>
                  <a:rPr lang="en-US" dirty="0"/>
                  <a:t>:</a:t>
                </a:r>
                <a:endParaRPr lang="ru-RU" dirty="0"/>
              </a:p>
              <a:p>
                <a:r>
                  <a:rPr lang="ru-RU" dirty="0"/>
                  <a:t>Точки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ar-AE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ar-A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называются множителями функции Лагранжа</a:t>
                </a:r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ru-RU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, то функция называется классической функцией Лагранжа</a:t>
                </a:r>
              </a:p>
              <a:p>
                <a:r>
                  <a:rPr lang="ru-RU" dirty="0"/>
                  <a:t>Градиентом ф. Лагранжа по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называется</a:t>
                </a:r>
                <a:r>
                  <a:rPr lang="en-US" dirty="0"/>
                  <a:t> </a:t>
                </a:r>
                <a:r>
                  <a:rPr lang="ru-RU" dirty="0"/>
                  <a:t>вектор-столбец, составленный из ее ЧП 1-го порядка</a:t>
                </a:r>
              </a:p>
              <a:p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63808EB-9175-4F39-1D62-BED34F7B79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72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81C9A-4809-1614-BAA7-528BF6FC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Необходимые условия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4D34B7B-1A5F-A7A5-CE94-276B2EB2C9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Необходимое условие </a:t>
                </a:r>
                <a:r>
                  <a:rPr lang="en-US" b="1" dirty="0" err="1"/>
                  <a:t>extr</a:t>
                </a:r>
                <a:r>
                  <a:rPr lang="en-US" b="1" dirty="0"/>
                  <a:t> </a:t>
                </a:r>
                <a:r>
                  <a:rPr lang="ru-RU" b="1" dirty="0"/>
                  <a:t>1-го порядка</a:t>
                </a:r>
              </a:p>
              <a:p>
                <a:pPr marL="0" indent="0">
                  <a:buNone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есть точка локального </a:t>
                </a:r>
                <a:r>
                  <a:rPr lang="en-US" dirty="0" err="1"/>
                  <a:t>extr</a:t>
                </a:r>
                <a:r>
                  <a:rPr lang="en-US" dirty="0"/>
                  <a:t> </a:t>
                </a:r>
                <a:r>
                  <a:rPr lang="ru-RU" dirty="0"/>
                  <a:t>к задаче </a:t>
                </a:r>
                <a:r>
                  <a:rPr lang="ru-RU" b="1" dirty="0"/>
                  <a:t>(1)</a:t>
                </a:r>
                <a:r>
                  <a:rPr lang="ru-RU" dirty="0"/>
                  <a:t>, тогда найдутся такие числа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, при которых выполняется следующие условия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b="1" dirty="0"/>
                  <a:t>Необходимое условие условного </a:t>
                </a:r>
                <a:r>
                  <a:rPr lang="en-US" b="1" dirty="0" err="1"/>
                  <a:t>extr</a:t>
                </a:r>
                <a:r>
                  <a:rPr lang="en-US" b="1" dirty="0"/>
                  <a:t> </a:t>
                </a:r>
                <a:r>
                  <a:rPr lang="ru-RU" b="1" dirty="0"/>
                  <a:t>2-го порядка</a:t>
                </a:r>
              </a:p>
              <a:p>
                <a:pPr marL="0" indent="0">
                  <a:buNone/>
                </a:pP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- точка </a:t>
                </a:r>
                <a:r>
                  <a:rPr lang="en-US" dirty="0"/>
                  <a:t>min (max) </a:t>
                </a:r>
                <a:r>
                  <a:rPr lang="ru-RU" dirty="0"/>
                  <a:t>в задаче (1), тогда второй дифференциал классической ф. Лагранжа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(≤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При условии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         </a:t>
                </a:r>
                <a:r>
                  <a:rPr lang="en-US" b="1" dirty="0"/>
                  <a:t>(2)</a:t>
                </a:r>
                <a:endParaRPr lang="ru-RU" b="1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4D34B7B-1A5F-A7A5-CE94-276B2EB2C9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4" t="-1970" b="-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801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85678B-74D6-CCE7-876F-47F9CD9A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Достаточные условия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432E666-9EED-3702-5C98-52E5E656AA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Достаточные условия условного </a:t>
                </a:r>
                <a:r>
                  <a:rPr lang="en-US" b="1" dirty="0" err="1"/>
                  <a:t>extr</a:t>
                </a:r>
                <a:endParaRPr lang="ru-RU" b="1" dirty="0"/>
              </a:p>
              <a:p>
                <a:pPr marL="0" indent="0">
                  <a:buNone/>
                </a:pPr>
                <a:r>
                  <a:rPr lang="ru-RU" dirty="0"/>
                  <a:t>Если в точке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ru-RU" dirty="0"/>
                  <a:t>, при выполнении условия </a:t>
                </a:r>
                <a:r>
                  <a:rPr lang="ru-RU" b="1" dirty="0"/>
                  <a:t>(2)</a:t>
                </a:r>
                <a:r>
                  <a:rPr lang="ru-RU" dirty="0"/>
                  <a:t>, то эта точка является точкой локального </a:t>
                </a:r>
                <a:r>
                  <a:rPr lang="en-US" dirty="0"/>
                  <a:t>min (max) </a:t>
                </a:r>
                <a:r>
                  <a:rPr lang="ru-RU" dirty="0"/>
                  <a:t>в задаче </a:t>
                </a:r>
                <a:r>
                  <a:rPr lang="ru-RU" b="1" dirty="0"/>
                  <a:t>(1)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432E666-9EED-3702-5C98-52E5E656AA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54" t="-19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05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58B7F3-9A00-C6A8-40B0-191B2F92E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E5AC289-CE50-ECD3-5864-25DB684F97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Составить ф. Лагранжа. Записать необходимые условия условного </a:t>
                </a:r>
                <a:r>
                  <a:rPr lang="en-US" dirty="0" err="1"/>
                  <a:t>extr</a:t>
                </a:r>
                <a:r>
                  <a:rPr lang="en-US" dirty="0"/>
                  <a:t> </a:t>
                </a:r>
                <a:r>
                  <a:rPr lang="ru-RU" dirty="0"/>
                  <a:t>и решить полученную систему уравнений, определив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Для найденных в п. 1 точках проверить достаточные условия </a:t>
                </a:r>
                <a:r>
                  <a:rPr lang="en-US" dirty="0" err="1"/>
                  <a:t>extr</a:t>
                </a:r>
                <a:r>
                  <a:rPr lang="ru-RU" dirty="0"/>
                  <a:t>. Если они выполняются, то проверить необходимые условия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Для полученных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ru-RU" dirty="0" err="1"/>
                  <a:t>расчитать</a:t>
                </a:r>
                <a:r>
                  <a:rPr lang="ru-RU" dirty="0"/>
                  <a:t>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E5AC289-CE50-ECD3-5864-25DB684F97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7" t="-21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848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479445-36F3-759F-236B-D7DC882C3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2926FBD-A364-45DB-DED9-E2A64AEA3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Найти условные экстремумы: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ru-RU" i="1"/>
                        <m:t>при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:r>
                  <a:rPr lang="ru-RU" b="1" dirty="0"/>
                  <a:t>Решение: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ru-RU" dirty="0"/>
                  <a:t>Система: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num>
                                  <m:den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ru-RU" dirty="0"/>
                  <a:t>Из первых двух: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ru-RU" dirty="0"/>
                  <a:t>, 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=−</m:t>
                    </m:r>
                    <m:r>
                      <a:rPr lang="ru-RU"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/>
                  <a:t>Подставляем в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>
                        <a:latin typeface="Cambria Math" panose="02040503050406030204" pitchFamily="18" charset="0"/>
                      </a:rPr>
                      <m:t>1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ru-RU" dirty="0"/>
                  <a:t>,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ru-RU" dirty="0"/>
                  <a:t>,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=−</m:t>
                    </m:r>
                    <m:r>
                      <a:rPr lang="ru-RU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2926FBD-A364-45DB-DED9-E2A64AEA3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9" t="-2727" b="-13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254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A6543-00D9-75E1-2410-E77F9FD02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(достаточное условие)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7BC875F-2E3F-974B-D0A6-E6E22D395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Находим вторые производные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ar-A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ru-RU" dirty="0"/>
                  <a:t>Ограничение: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=−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Подставляем: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d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/>
                  <a:t> </a:t>
                </a:r>
                <a:r>
                  <a:rPr lang="ru-RU" dirty="0"/>
                  <a:t>для любого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ru-RU">
                        <a:latin typeface="Cambria Math" panose="02040503050406030204" pitchFamily="18" charset="0"/>
                      </a:rPr>
                      <m:t>≠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→ </a:t>
                </a:r>
                <a:r>
                  <a:rPr lang="ru-RU" b="1" dirty="0"/>
                  <a:t>Условный минимум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Точка: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ru-RU" dirty="0"/>
                  <a:t>значение 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ru-RU" dirty="0"/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7BC875F-2E3F-974B-D0A6-E6E22D395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9" t="-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029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56AFF-6163-AD90-9025-411B6061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6CCDA-D055-5EEF-9BE8-4A5C67CA0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Оптимизация с ограничениями </a:t>
            </a:r>
          </a:p>
          <a:p>
            <a:pPr marL="630936" lvl="1" indent="-457200"/>
            <a:r>
              <a:rPr lang="ru-RU" sz="2400" dirty="0"/>
              <a:t>Условный экстремум – важный элемент задач оптимизации в теории принятия решений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Метод Лагранжа </a:t>
            </a:r>
          </a:p>
          <a:p>
            <a:pPr marL="630936" lvl="1" indent="-457200"/>
            <a:r>
              <a:rPr lang="ru-RU" sz="2400" dirty="0"/>
              <a:t>Позволяет находить оптимальные решения при ограничениях через систему уравнений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Практическое применение </a:t>
            </a:r>
          </a:p>
          <a:p>
            <a:pPr marL="630936" lvl="1" indent="-457200"/>
            <a:r>
              <a:rPr lang="ru-RU" sz="2400" dirty="0"/>
              <a:t>Широко используется при решении задач оптимального выбора в условиях ограничений</a:t>
            </a:r>
          </a:p>
        </p:txBody>
      </p:sp>
    </p:spTree>
    <p:extLst>
      <p:ext uri="{BB962C8B-B14F-4D97-AF65-F5344CB8AC3E}">
        <p14:creationId xmlns:p14="http://schemas.microsoft.com/office/powerpoint/2010/main" val="15944912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Интеграл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229</TotalTime>
  <Words>599</Words>
  <Application>Microsoft Office PowerPoint</Application>
  <PresentationFormat>Широкоэкранный</PresentationFormat>
  <Paragraphs>76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Calibri</vt:lpstr>
      <vt:lpstr>Cambria Math</vt:lpstr>
      <vt:lpstr>Tw Cen MT</vt:lpstr>
      <vt:lpstr>Tw Cen MT Condensed</vt:lpstr>
      <vt:lpstr>Wingdings 3</vt:lpstr>
      <vt:lpstr>Интеграл</vt:lpstr>
      <vt:lpstr>Условный экстремум при ограничениях типа равенств </vt:lpstr>
      <vt:lpstr>Постановка задачи</vt:lpstr>
      <vt:lpstr>Зачем нужен условный экстремум</vt:lpstr>
      <vt:lpstr>Понятие экстремума</vt:lpstr>
      <vt:lpstr>Условный экстремум</vt:lpstr>
      <vt:lpstr>Функция Лагранжа</vt:lpstr>
      <vt:lpstr>Необходимые условия</vt:lpstr>
      <vt:lpstr>Достаточные условия</vt:lpstr>
      <vt:lpstr>Алгоритм</vt:lpstr>
      <vt:lpstr>Пример</vt:lpstr>
      <vt:lpstr>Пример (достаточное условие)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Роман Шакшуев</dc:creator>
  <cp:lastModifiedBy>Роман Шакшуев</cp:lastModifiedBy>
  <cp:revision>6</cp:revision>
  <dcterms:created xsi:type="dcterms:W3CDTF">2026-05-05T03:49:59Z</dcterms:created>
  <dcterms:modified xsi:type="dcterms:W3CDTF">2026-05-06T04:52:36Z</dcterms:modified>
</cp:coreProperties>
</file>