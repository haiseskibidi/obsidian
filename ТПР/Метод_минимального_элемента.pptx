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rial"/>
              </a:defRPr>
            </a:pPr>
            <a:r>
              <a:t>САМОСТОЯТЕЛЬНАЯ РАБОТА • ТПР</a:t>
            </a:r>
          </a:p>
          <a:p>
            <a:br/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t>Метод минимального элемента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4114800"/>
            <a:ext cx="2286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75569"/>
                </a:solidFill>
                <a:latin typeface="Arial"/>
              </a:defRPr>
            </a:pPr>
            <a:r>
              <a:t>Выполнил: студент гр. ПИКД-2</a:t>
            </a:r>
            <a:br/>
            <a:r>
              <a:t>Копаницкий З. 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Постановка задачи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Транспортная задача:</a:t>
            </a:r>
          </a:p>
          <a:p>
            <a:br/>
            <a:pPr>
              <a:defRPr sz="2200">
                <a:solidFill>
                  <a:srgbClr val="475569"/>
                </a:solidFill>
                <a:latin typeface="Calibri"/>
              </a:defRPr>
            </a:pPr>
            <a:r>
              <a:t>Оптимальная доставка однородного груза от поставщиков к потребителям.</a:t>
            </a:r>
            <a:br/>
            <a:br/>
            <a:r>
              <a:t>• C — тарифы перевозок</a:t>
            </a:r>
            <a:br/>
            <a:r>
              <a:t>• A — запасы поставщиков</a:t>
            </a:r>
            <a:br/>
            <a:r>
              <a:t>• B — запросы потребителей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Минимизация затрат:</a:t>
            </a:r>
          </a:p>
          <a:p>
            <a:br/>
            <a:pPr>
              <a:defRPr sz="2400" b="1">
                <a:solidFill>
                  <a:srgbClr val="2563EB"/>
                </a:solidFill>
                <a:latin typeface="Arial"/>
              </a:defRPr>
            </a:pPr>
            <a:r>
              <a:t>Z = ∑∑ c_ij • x_ij  →  min</a:t>
            </a:r>
            <a:br/>
            <a:br/>
            <a:r>
              <a:t>Ограничения:</a:t>
            </a:r>
            <a:br/>
            <a:r>
              <a:t>∑ x_ij = a_i</a:t>
            </a:r>
            <a:br/>
            <a:r>
              <a:t>∑ x_ij = b_j</a:t>
            </a:r>
            <a:br/>
            <a:r>
              <a:t>x_ij ≥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Назначение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1. Быстрый старт: Мгновенное построение допустимого плана перевозок.</a:t>
            </a:r>
            <a:br/>
          </a:p>
          <a:p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2. Экономия: План учитывает тарифы и изначально близок к оптимальному.</a:t>
            </a:r>
            <a:br/>
          </a:p>
          <a:p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3. Эффективность: Сокращает количество итераций метода потенциалов.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Суть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4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  <a:latin typeface="Arial"/>
              </a:defRPr>
            </a:pPr>
            <a:r>
              <a:t>Локальный «жадный» выбор:</a:t>
            </a:r>
          </a:p>
          <a:p>
            <a:br/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Приоритетное заполнение клеток таблицы с наименьшей стоимостью перевозок.</a:t>
            </a:r>
            <a:br/>
            <a:br/>
            <a:r>
              <a:t>Максимально возможная отгрузка в дешевые ячейки с последующим исключением закрытых строк или столбцов.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Алгоритм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F172A"/>
                </a:solidFill>
                <a:latin typeface="Calibri"/>
              </a:defRPr>
            </a:pPr>
            <a:r>
              <a:t>1. Найти клетку с минимальным тарифом c_ij.</a:t>
            </a:r>
          </a:p>
          <a:p>
            <a:pPr>
              <a:spcAft>
                <a:spcPts val="1400"/>
              </a:spcAft>
              <a:defRPr sz="2200">
                <a:solidFill>
                  <a:srgbClr val="0F172A"/>
                </a:solidFill>
                <a:latin typeface="Calibri"/>
              </a:defRPr>
            </a:pPr>
            <a:r>
              <a:t>2. Записать объем перевозки x_ij = min(a_i, b_j).</a:t>
            </a:r>
          </a:p>
          <a:p>
            <a:pPr>
              <a:spcAft>
                <a:spcPts val="1400"/>
              </a:spcAft>
              <a:defRPr sz="2200">
                <a:solidFill>
                  <a:srgbClr val="0F172A"/>
                </a:solidFill>
                <a:latin typeface="Calibri"/>
              </a:defRPr>
            </a:pPr>
            <a:r>
              <a:t>3. Вычесть x_ij из запасов a_i и потребностей b_j.</a:t>
            </a:r>
          </a:p>
          <a:p>
            <a:pPr>
              <a:spcAft>
                <a:spcPts val="1400"/>
              </a:spcAft>
              <a:defRPr sz="2200">
                <a:solidFill>
                  <a:srgbClr val="0F172A"/>
                </a:solidFill>
                <a:latin typeface="Calibri"/>
              </a:defRPr>
            </a:pPr>
            <a:r>
              <a:t>4. Вычеркнуть удовлетворенную строку (a_i=0) или столбец (b_j=0).</a:t>
            </a:r>
          </a:p>
          <a:p>
            <a:pPr>
              <a:spcAft>
                <a:spcPts val="1400"/>
              </a:spcAft>
              <a:defRPr sz="2200">
                <a:solidFill>
                  <a:srgbClr val="0F172A"/>
                </a:solidFill>
                <a:latin typeface="Calibri"/>
              </a:defRPr>
            </a:pPr>
            <a:r>
              <a:t>5. Повторять до полного распределения всех грузов.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Пример: Исходная таблица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828800"/>
          <a:ext cx="94457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1828800"/>
                <a:gridCol w="1828800"/>
                <a:gridCol w="1828800"/>
                <a:gridCol w="182880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Пост. \ Потр.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Запасы 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Спрос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Распределение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Arial"/>
              </a:defRPr>
            </a:pPr>
            <a:r>
              <a:t>Шаг 1. Клетка (A2, B2) с тарифом 1:</a:t>
            </a:r>
          </a:p>
          <a:p>
            <a:pPr>
              <a:defRPr sz="2200">
                <a:solidFill>
                  <a:srgbClr val="0F172A"/>
                </a:solidFill>
                <a:latin typeface="Calibri"/>
              </a:defRPr>
            </a:pPr>
            <a:r>
              <a:t>x_22 = min(80, 90) = 80.</a:t>
            </a:r>
            <a:br/>
            <a:r>
              <a:t>Поставщик A2 исчерпан (строка 2 выбывает). Спрос B2 сокращается до 10.</a:t>
            </a:r>
            <a:br/>
            <a:br/>
          </a:p>
          <a:p>
            <a:pPr>
              <a:defRPr sz="2400" b="1">
                <a:solidFill>
                  <a:srgbClr val="2563EB"/>
                </a:solidFill>
                <a:latin typeface="Arial"/>
              </a:defRPr>
            </a:pPr>
            <a:r>
              <a:t>Шаг 2. Клетка (A1, B1) с тарифом 2:</a:t>
            </a:r>
          </a:p>
          <a:p>
            <a:pPr>
              <a:defRPr sz="2200">
                <a:solidFill>
                  <a:srgbClr val="0F172A"/>
                </a:solidFill>
                <a:latin typeface="Calibri"/>
              </a:defRPr>
            </a:pPr>
            <a:r>
              <a:t>x_11 = min(60, 70) = 60.</a:t>
            </a:r>
            <a:br/>
            <a:r>
              <a:t>Поставщик A1 исчерпан (строка 1 выбывает). Спрос B1 сокращается до 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Распределение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Осталась строка A3 (запасы 100):</a:t>
            </a:r>
          </a:p>
          <a:p>
            <a:pPr>
              <a:defRPr sz="2200">
                <a:solidFill>
                  <a:srgbClr val="475569"/>
                </a:solidFill>
                <a:latin typeface="Calibri"/>
              </a:defRPr>
            </a:pPr>
            <a:r>
              <a:t>• Шаг 3. Клетка (A3, B3) с тарифом 3:</a:t>
            </a:r>
            <a:br/>
            <a:r>
              <a:t>  x_33 = min(100, 80) = 80. Потребитель B3 удовлетворен.</a:t>
            </a:r>
            <a:br/>
            <a:br/>
            <a:r>
              <a:t>• Шаг 4. Клетка (A3, B1) с тарифом 8:</a:t>
            </a:r>
            <a:br/>
            <a:r>
              <a:t>  x_31 = min(20, 10) = 10. Потребитель B1 удовлетворен.</a:t>
            </a:r>
            <a:br/>
            <a:br/>
            <a:r>
              <a:t>• Шаг 5. Клетка (A3, B2) с тарифом 11:</a:t>
            </a:r>
            <a:br/>
            <a:r>
              <a:t>  x_32 = min(10, 10) = 10. Все объемы распределены.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Опорный план и стоимость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Пост.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Запас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Спрос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Расчет затрат Z:</a:t>
            </a:r>
          </a:p>
          <a:p>
            <a:br/>
            <a:pPr>
              <a:defRPr sz="2200">
                <a:solidFill>
                  <a:srgbClr val="475569"/>
                </a:solidFill>
                <a:latin typeface="Calibri"/>
              </a:defRPr>
            </a:pPr>
            <a:r>
              <a:t>Z = 60•2 + 80•1 + 80•3 + 10•8 + 10•11 = 630 ед.</a:t>
            </a:r>
            <a:br/>
            <a:br/>
            <a:r>
              <a:t>Сравнение:</a:t>
            </a:r>
            <a:br/>
            <a:r>
              <a:t>• Метод Минимального Элемента: Z = 630 ед.</a:t>
            </a:r>
            <a:br/>
            <a:r>
              <a:t>• Метод Северо-Западного угла: Z = 770 ед.</a:t>
            </a:r>
            <a:br/>
            <a:br/>
            <a:r>
              <a:t>Экономия составляет более 18%!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Оценка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Arial"/>
              </a:defRPr>
            </a:pPr>
            <a:r>
              <a:t>Достоинства:</a:t>
            </a:r>
          </a:p>
          <a:p>
            <a:br/>
            <a:pPr>
              <a:defRPr sz="2200">
                <a:solidFill>
                  <a:srgbClr val="0F172A"/>
                </a:solidFill>
                <a:latin typeface="Calibri"/>
              </a:defRPr>
            </a:pPr>
            <a:r>
              <a:t>• Простота расчетов.</a:t>
            </a:r>
            <a:br/>
            <a:r>
              <a:t>• Учет стоимостных тарифов.</a:t>
            </a:r>
            <a:br/>
            <a:r>
              <a:t>• Качественный начальный план.</a:t>
            </a:r>
            <a:br/>
            <a:r>
              <a:t>• Сокращение итераций оптимизации.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Недостатки:</a:t>
            </a:r>
          </a:p>
          <a:p>
            <a:br/>
            <a:pPr>
              <a:defRPr sz="2200">
                <a:solidFill>
                  <a:srgbClr val="0F172A"/>
                </a:solidFill>
                <a:latin typeface="Calibri"/>
              </a:defRPr>
            </a:pPr>
            <a:r>
              <a:t>• Локальная «жадность».</a:t>
            </a:r>
            <a:br/>
            <a:r>
              <a:t>• Вынужденные дорогие перевозки на последних шагах.</a:t>
            </a:r>
            <a:br/>
            <a:r>
              <a:t>• Уступает по качеству методу аппроксимации Фогеля.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4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563EB"/>
                </a:solidFill>
                <a:latin typeface="Arial"/>
              </a:defRPr>
            </a:pPr>
            <a:r>
              <a:t>Метод минимального элемента —</a:t>
            </a:r>
          </a:p>
          <a:p>
            <a:br/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Оптимальный баланс простоты и качества начального решения.</a:t>
            </a:r>
            <a:br/>
            <a:br/>
            <a:r>
              <a:t>Он служит надежной и экономически выгодной отправной точкой для дальнейшего решения транспортных задач.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