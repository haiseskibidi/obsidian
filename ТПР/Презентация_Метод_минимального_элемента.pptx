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rial"/>
              </a:defRPr>
            </a:pPr>
            <a:r>
              <a:t>САМОСТОЯТЕЛЬНАЯ РАБОТА • ТПР</a:t>
            </a:r>
          </a:p>
          <a:p>
            <a:br/>
            <a:pPr>
              <a:defRPr sz="4400" b="1">
                <a:solidFill>
                  <a:srgbClr val="0F172A"/>
                </a:solidFill>
                <a:latin typeface="Arial"/>
              </a:defRPr>
            </a:pPr>
            <a:r>
              <a:t>Метод минимального элемента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4114800"/>
            <a:ext cx="2286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475569"/>
                </a:solidFill>
                <a:latin typeface="Arial"/>
              </a:defRPr>
            </a:pPr>
            <a:r>
              <a:t>Выполнил: студент гр. ПИКД-2</a:t>
            </a:r>
            <a:br/>
            <a:r>
              <a:t>Копаницкий З. А.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Постановка задачи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Транспортная задача:</a:t>
            </a:r>
          </a:p>
          <a:p>
            <a:br/>
            <a:pPr>
              <a:defRPr sz="2200">
                <a:solidFill>
                  <a:srgbClr val="475569"/>
                </a:solidFill>
                <a:latin typeface="Calibri"/>
              </a:defRPr>
            </a:pPr>
            <a:r>
              <a:t>Оптимальная доставка однородного груза от поставщиков к потребителям.</a:t>
            </a:r>
            <a:br/>
            <a:br/>
            <a:r>
              <a:t>• C — тарифы перевозок</a:t>
            </a:r>
            <a:br/>
            <a:r>
              <a:t>• A — запасы поставщиков</a:t>
            </a:r>
            <a:br/>
            <a:r>
              <a:t>• B — запросы потребителей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Минимизация затрат:</a:t>
            </a:r>
          </a:p>
          <a:p>
            <a:pPr>
              <a:defRPr sz="2400" b="1"/>
            </a:pPr>
            <a:r>
              <a:rPr sz="2400" b="1">
                <a:solidFill>
                  <a:srgbClr val="2563EB"/>
                </a:solidFill>
                <a:latin typeface="Arial"/>
              </a:rPr>
              <a:t>
Z = ∑∑ cᵢⱼ • xᵢⱼ  →  min</a:t>
            </a:r>
          </a:p>
          <a:p>
            <a:br/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Ограничения:</a:t>
            </a:r>
          </a:p>
          <a:p>
            <a:pPr>
              <a:defRPr sz="2200" b="1"/>
            </a:pPr>
            <a:r>
              <a:rPr sz="2200" b="1">
                <a:solidFill>
                  <a:srgbClr val="2563EB"/>
                </a:solidFill>
                <a:latin typeface="Arial"/>
              </a:rPr>
              <a:t>∑ xᵢⱼ = aᵢ</a:t>
            </a:r>
          </a:p>
          <a:p>
            <a:pPr>
              <a:defRPr sz="2200" b="1"/>
            </a:pPr>
            <a:r>
              <a:rPr sz="2200" b="1">
                <a:solidFill>
                  <a:srgbClr val="2563EB"/>
                </a:solidFill>
                <a:latin typeface="Arial"/>
              </a:rPr>
              <a:t>∑ xᵢⱼ = bⱼ</a:t>
            </a:r>
          </a:p>
          <a:p>
            <a:pPr>
              <a:defRPr sz="2200" b="1"/>
            </a:pPr>
            <a:r>
              <a:rPr sz="2200" b="1">
                <a:solidFill>
                  <a:srgbClr val="2563EB"/>
                </a:solidFill>
                <a:latin typeface="Arial"/>
              </a:rPr>
              <a:t>xᵢⱼ ≥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Назначение метода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0F172A"/>
                </a:solidFill>
                <a:latin typeface="Calibri"/>
              </a:defRPr>
            </a:pPr>
            <a:r>
              <a:t>1. Быстрое построение первоначального допустимого плана перевозок.</a:t>
            </a:r>
            <a:br/>
          </a:p>
          <a:p>
            <a:pPr>
              <a:defRPr sz="2400">
                <a:solidFill>
                  <a:srgbClr val="0F172A"/>
                </a:solidFill>
                <a:latin typeface="Calibri"/>
              </a:defRPr>
            </a:pPr>
            <a:r>
              <a:t>2. Учет реальных тарифов перевозок при составлении маршрутов.</a:t>
            </a:r>
            <a:br/>
          </a:p>
          <a:p>
            <a:pPr>
              <a:defRPr sz="2400">
                <a:solidFill>
                  <a:srgbClr val="0F172A"/>
                </a:solidFill>
                <a:latin typeface="Calibri"/>
              </a:defRPr>
            </a:pPr>
            <a:r>
              <a:t>3. Значительное сокращение количества последующих шагов оптимизации.</a:t>
            </a:r>
            <a:b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Суть метода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441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  <a:latin typeface="Arial"/>
              </a:defRPr>
            </a:pPr>
            <a:r>
              <a:t>Локальный («жадный») выбор</a:t>
            </a:r>
          </a:p>
          <a:p>
            <a:br/>
            <a:pPr>
              <a:defRPr sz="2400">
                <a:solidFill>
                  <a:srgbClr val="0F172A"/>
                </a:solidFill>
                <a:latin typeface="Calibri"/>
              </a:defRPr>
            </a:pPr>
            <a:r>
              <a:t>Приоритетное заполнение клеток таблицы с наименьшей стоимостью перевозок.</a:t>
            </a:r>
            <a:br/>
            <a:br/>
            <a:r>
              <a:t>Максимально возможная отгрузка в дешевые ячейки с последующим исключением закрытых строк или столбцов.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Алгоритм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0"/>
            </a:pPr>
            <a:r>
              <a:rPr sz="2200" b="0">
                <a:solidFill>
                  <a:srgbClr val="0F172A"/>
                </a:solidFill>
                <a:latin typeface="Arial"/>
              </a:rPr>
              <a:t>1. Найти клетку с минимальным тарифом cᵢⱼ.</a:t>
            </a:r>
          </a:p>
          <a:p>
            <a:pPr>
              <a:spcAft>
                <a:spcPts val="1400"/>
              </a:spcAft>
              <a:defRPr sz="2200" b="0"/>
            </a:pPr>
            <a:r>
              <a:rPr sz="2200" b="0">
                <a:solidFill>
                  <a:srgbClr val="0F172A"/>
                </a:solidFill>
                <a:latin typeface="Arial"/>
              </a:rPr>
              <a:t>2. Записать объем перевозки xᵢⱼ = min(aᵢ, bⱼ).</a:t>
            </a:r>
          </a:p>
          <a:p>
            <a:pPr>
              <a:spcAft>
                <a:spcPts val="1400"/>
              </a:spcAft>
              <a:defRPr sz="2200" b="0"/>
            </a:pPr>
            <a:r>
              <a:rPr sz="2200" b="0">
                <a:solidFill>
                  <a:srgbClr val="0F172A"/>
                </a:solidFill>
                <a:latin typeface="Arial"/>
              </a:rPr>
              <a:t>3. Вычесть xᵢⱼ из запасов aᵢ и потребностей bⱼ.</a:t>
            </a:r>
          </a:p>
          <a:p>
            <a:pPr>
              <a:spcAft>
                <a:spcPts val="1400"/>
              </a:spcAft>
              <a:defRPr sz="2200" b="0"/>
            </a:pPr>
            <a:r>
              <a:rPr sz="2200" b="0">
                <a:solidFill>
                  <a:srgbClr val="0F172A"/>
                </a:solidFill>
                <a:latin typeface="Arial"/>
              </a:rPr>
              <a:t>4. Вычеркнуть удовлетворенную строку (aᵢ=0) или столбец (bⱼ=0).</a:t>
            </a:r>
          </a:p>
          <a:p>
            <a:pPr>
              <a:defRPr sz="2200" b="0"/>
            </a:pPr>
            <a:r>
              <a:rPr sz="2200" b="0">
                <a:solidFill>
                  <a:srgbClr val="0F172A"/>
                </a:solidFill>
                <a:latin typeface="Arial"/>
              </a:rPr>
              <a:t>5. Повторять до полного распределения всех грузов.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Пример: Исходная таблица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828800"/>
          <a:ext cx="94457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150"/>
                <a:gridCol w="1889150"/>
                <a:gridCol w="1889150"/>
                <a:gridCol w="1889150"/>
                <a:gridCol w="1889152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Пост. \ Потр.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Запасы A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Спрос 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Распределение: Шаги 1 и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5486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Пост. \ Потр.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Запасы A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60 →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80 →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Спрос 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70 → 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90 → 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2563EB"/>
                </a:solidFill>
                <a:latin typeface="Arial"/>
              </a:defRPr>
            </a:pPr>
            <a:r>
              <a:t>Шаг 1. Распределение в клетку (A2, B2) с тарифом 1</a:t>
            </a:r>
          </a:p>
          <a:p>
            <a:pPr>
              <a:spcAft>
                <a:spcPts val="400"/>
              </a:spcAft>
              <a:defRPr sz="2000" b="1"/>
            </a:pPr>
            <a:r>
              <a:rPr sz="2000" b="1">
                <a:solidFill>
                  <a:srgbClr val="0F172A"/>
                </a:solidFill>
                <a:latin typeface="Arial"/>
              </a:rPr>
              <a:t>x₂₂ = min(80, 90) = 80</a:t>
            </a:r>
          </a:p>
          <a:p>
            <a:pPr>
              <a:spcAft>
                <a:spcPts val="1400"/>
              </a:spcAft>
              <a:defRPr sz="1800">
                <a:solidFill>
                  <a:srgbClr val="475569"/>
                </a:solidFill>
                <a:latin typeface="Calibri"/>
              </a:defRPr>
            </a:pPr>
            <a:r>
              <a:t>Запасы поставщика A2 исчерпаны. Спрос B2 снижается до 10.</a:t>
            </a:r>
            <a:br/>
          </a:p>
          <a:p>
            <a:pPr>
              <a:spcAft>
                <a:spcPts val="400"/>
              </a:spcAft>
              <a:defRPr sz="2200" b="1">
                <a:solidFill>
                  <a:srgbClr val="2563EB"/>
                </a:solidFill>
                <a:latin typeface="Arial"/>
              </a:defRPr>
            </a:pPr>
            <a:r>
              <a:t>Шаг 2. Распределение в клетку (A1, B1) с тарифом 2</a:t>
            </a:r>
          </a:p>
          <a:p>
            <a:pPr>
              <a:spcAft>
                <a:spcPts val="400"/>
              </a:spcAft>
              <a:defRPr sz="2000" b="1"/>
            </a:pPr>
            <a:r>
              <a:rPr sz="2000" b="1">
                <a:solidFill>
                  <a:srgbClr val="0F172A"/>
                </a:solidFill>
                <a:latin typeface="Arial"/>
              </a:rPr>
              <a:t>x₁₁ = min(60, 70) = 60</a:t>
            </a:r>
          </a:p>
          <a:p>
            <a:pPr>
              <a:defRPr sz="1800">
                <a:solidFill>
                  <a:srgbClr val="475569"/>
                </a:solidFill>
                <a:latin typeface="Calibri"/>
              </a:defRPr>
            </a:pPr>
            <a:r>
              <a:t>Запасы поставщика A1 исчерпаны. Спрос B1 снижается до 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Распределение: Шаги 3, 4 и 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5486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Пост. \ Потр.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Запасы A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60 →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80 →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100 → 20 → 10 →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Спрос 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70 → 10 →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90 → 10 →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80 →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172A"/>
                </a:solidFill>
                <a:latin typeface="Arial"/>
              </a:defRPr>
            </a:pPr>
            <a:r>
              <a:t>Распределение для строки A3 (запас 100)</a:t>
            </a:r>
          </a:p>
          <a:p>
            <a:pPr>
              <a:defRPr sz="1600" b="1"/>
            </a:pPr>
            <a:r>
              <a:rPr sz="1600" b="1">
                <a:solidFill>
                  <a:srgbClr val="2563EB"/>
                </a:solidFill>
                <a:latin typeface="Arial"/>
              </a:rPr>
              <a:t>• Шаг 3. Клетка (A3, B3) с тарифом 3</a:t>
            </a:r>
          </a:p>
          <a:p>
            <a:pPr>
              <a:defRPr sz="1600" b="0"/>
            </a:pPr>
            <a:r>
              <a:rPr sz="1600" b="0">
                <a:solidFill>
                  <a:srgbClr val="0F172A"/>
                </a:solidFill>
                <a:latin typeface="Arial"/>
              </a:rPr>
              <a:t>  x₃₃ = min(100, 80) = 80</a:t>
            </a:r>
          </a:p>
          <a:p>
            <a:pPr>
              <a:spcAft>
                <a:spcPts val="600"/>
              </a:spcAft>
              <a:defRPr sz="1400">
                <a:solidFill>
                  <a:srgbClr val="475569"/>
                </a:solidFill>
                <a:latin typeface="Calibri"/>
              </a:defRPr>
            </a:pPr>
            <a:r>
              <a:t>  Спрос B3 полностью удовлетворен. Запас A3 снижается до 20.</a:t>
            </a:r>
          </a:p>
          <a:p>
            <a:pPr>
              <a:defRPr sz="1600" b="1"/>
            </a:pPr>
            <a:r>
              <a:rPr sz="1600" b="1">
                <a:solidFill>
                  <a:srgbClr val="2563EB"/>
                </a:solidFill>
                <a:latin typeface="Arial"/>
              </a:rPr>
              <a:t>• Шаг 4. Клетка (A3, B1) с тарифом 8</a:t>
            </a:r>
          </a:p>
          <a:p>
            <a:pPr>
              <a:defRPr sz="1600" b="0"/>
            </a:pPr>
            <a:r>
              <a:rPr sz="1600" b="0">
                <a:solidFill>
                  <a:srgbClr val="0F172A"/>
                </a:solidFill>
                <a:latin typeface="Arial"/>
              </a:rPr>
              <a:t>  x₃₁ = min(20, 10) = 10</a:t>
            </a:r>
          </a:p>
          <a:p>
            <a:pPr>
              <a:spcAft>
                <a:spcPts val="600"/>
              </a:spcAft>
              <a:defRPr sz="1400">
                <a:solidFill>
                  <a:srgbClr val="475569"/>
                </a:solidFill>
                <a:latin typeface="Calibri"/>
              </a:defRPr>
            </a:pPr>
            <a:r>
              <a:t>  Спрос B1 полностью удовлетворен. Запас A3 снижается до 10.</a:t>
            </a:r>
          </a:p>
          <a:p>
            <a:pPr>
              <a:defRPr sz="1600" b="1"/>
            </a:pPr>
            <a:r>
              <a:rPr sz="1600" b="1">
                <a:solidFill>
                  <a:srgbClr val="2563EB"/>
                </a:solidFill>
                <a:latin typeface="Arial"/>
              </a:rPr>
              <a:t>• Шаг 5. Клетка (A3, B2) с тарифом 11</a:t>
            </a:r>
          </a:p>
          <a:p>
            <a:pPr>
              <a:defRPr sz="1600" b="0"/>
            </a:pPr>
            <a:r>
              <a:rPr sz="1600" b="0">
                <a:solidFill>
                  <a:srgbClr val="0F172A"/>
                </a:solidFill>
                <a:latin typeface="Arial"/>
              </a:rPr>
              <a:t>  x₃₂ = min(10, 10) = 10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  Запас поставщика A3 и спрос потребителя B2 полностью исчерпаны.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Опорный план и стоимость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5486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Пост. \ Потр.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Запасы A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60 →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80 →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100 →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Спрос 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70 →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90 →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80 →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0936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0F172A"/>
                </a:solidFill>
                <a:latin typeface="Arial"/>
              </a:defRPr>
            </a:pPr>
            <a:r>
              <a:t>Расчет затрат Z:</a:t>
            </a:r>
          </a:p>
          <a:p>
            <a:pPr>
              <a:defRPr sz="2000" b="1"/>
            </a:pPr>
            <a:r>
              <a:rPr sz="2000" b="1">
                <a:solidFill>
                  <a:srgbClr val="2563EB"/>
                </a:solidFill>
                <a:latin typeface="Arial"/>
              </a:rPr>
              <a:t>Z = 60•2 + 80•1 + 80•3 + 10•8 + 10•11</a:t>
            </a:r>
          </a:p>
          <a:p>
            <a:pPr>
              <a:spcAft>
                <a:spcPts val="1400"/>
              </a:spcAft>
              <a:defRPr sz="2400" b="1"/>
            </a:pPr>
            <a:r>
              <a:rPr sz="2400" b="1">
                <a:solidFill>
                  <a:srgbClr val="2563EB"/>
                </a:solidFill>
                <a:latin typeface="Arial"/>
              </a:rPr>
              <a:t>Z = 630 ед.</a:t>
            </a:r>
          </a:p>
          <a:p>
            <a:pPr>
              <a:spcAft>
                <a:spcPts val="4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Сравнение начальных планов:</a:t>
            </a:r>
            <a:br/>
          </a:p>
          <a:p>
            <a:pPr>
              <a:defRPr sz="1800" b="0"/>
            </a:pPr>
            <a:r>
              <a:rPr sz="1800" b="0">
                <a:solidFill>
                  <a:srgbClr val="475569"/>
                </a:solidFill>
                <a:latin typeface="Arial"/>
              </a:rPr>
              <a:t>• Метод Мин. Элемента: Zₘᵢₙ = 630 ед.</a:t>
            </a:r>
          </a:p>
          <a:p>
            <a:pPr>
              <a:spcAft>
                <a:spcPts val="800"/>
              </a:spcAft>
              <a:defRPr sz="1800" b="0"/>
            </a:pPr>
            <a:r>
              <a:rPr sz="1800" b="0">
                <a:solidFill>
                  <a:srgbClr val="475569"/>
                </a:solidFill>
                <a:latin typeface="Arial"/>
              </a:rPr>
              <a:t>• Метод Сев.-Зап. угла: Zсз = 770 ед.</a:t>
            </a:r>
          </a:p>
          <a:p>
            <a:pPr>
              <a:defRPr sz="1800">
                <a:solidFill>
                  <a:srgbClr val="0F172A"/>
                </a:solidFill>
                <a:latin typeface="Calibri"/>
              </a:defRPr>
            </a:pPr>
            <a:r>
              <a:t>Экономия на первом шаге составляет более 18%!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Оценка метода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Arial"/>
              </a:defRPr>
            </a:pPr>
            <a:r>
              <a:t>Достоинства:</a:t>
            </a:r>
          </a:p>
          <a:p>
            <a:br/>
            <a:pPr>
              <a:defRPr sz="2200">
                <a:solidFill>
                  <a:srgbClr val="0F172A"/>
                </a:solidFill>
                <a:latin typeface="Calibri"/>
              </a:defRPr>
            </a:pPr>
            <a:r>
              <a:t>• Простота расчетов.</a:t>
            </a:r>
            <a:br/>
            <a:r>
              <a:t>• Учет стоимостных тарифов.</a:t>
            </a:r>
            <a:br/>
            <a:r>
              <a:t>• Качественный начальный план.</a:t>
            </a:r>
            <a:br/>
            <a:r>
              <a:t>• Сокращение итераций оптимизации.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Недостатки:</a:t>
            </a:r>
          </a:p>
          <a:p>
            <a:br/>
            <a:pPr>
              <a:defRPr sz="2200">
                <a:solidFill>
                  <a:srgbClr val="0F172A"/>
                </a:solidFill>
                <a:latin typeface="Calibri"/>
              </a:defRPr>
            </a:pPr>
            <a:r>
              <a:t>• Локальная «жадность».</a:t>
            </a:r>
            <a:br/>
            <a:r>
              <a:t>• Вынужденные дорогие перевозки на последних шагах.</a:t>
            </a:r>
            <a:br/>
            <a:r>
              <a:t>• Не гарантирует глобальный минимум стоимости.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657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441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563EB"/>
                </a:solidFill>
                <a:latin typeface="Arial"/>
              </a:defRPr>
            </a:pPr>
            <a:r>
              <a:t>Метод минимального элемента —</a:t>
            </a:r>
          </a:p>
          <a:p>
            <a:br/>
            <a:pPr>
              <a:defRPr sz="2400">
                <a:solidFill>
                  <a:srgbClr val="0F172A"/>
                </a:solidFill>
                <a:latin typeface="Calibri"/>
              </a:defRPr>
            </a:pPr>
            <a:r>
              <a:t>Оптимальный баланс простоты и качества начального решения.</a:t>
            </a:r>
            <a:br/>
            <a:br/>
            <a:r>
              <a:t>Он служит надежной и экономически выгодной отправной точкой для дальнейшего решения транспортных задач.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