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rPr dirty="0"/>
              <a:t>САМОСТОЯТЕЛЬНАЯ РАБОТА • ТПР</a:t>
            </a:r>
          </a:p>
          <a:p>
            <a:br>
              <a:rPr sz="4400" b="1" dirty="0"/>
            </a:br>
            <a:r>
              <a:rPr sz="4400" b="1" dirty="0" err="1"/>
              <a:t>Метод</a:t>
            </a:r>
            <a:r>
              <a:rPr sz="4400" b="1" dirty="0"/>
              <a:t> </a:t>
            </a:r>
            <a:r>
              <a:rPr sz="4400" b="1" dirty="0" err="1"/>
              <a:t>минимального</a:t>
            </a:r>
            <a:r>
              <a:rPr sz="4400" b="1" dirty="0"/>
              <a:t> </a:t>
            </a:r>
            <a:r>
              <a:rPr sz="4400" b="1" dirty="0" err="1"/>
              <a:t>элемента</a:t>
            </a:r>
            <a:endParaRPr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75569"/>
                </a:solidFill>
                <a:latin typeface="Arial"/>
              </a:defRPr>
            </a:pPr>
            <a:r>
              <a:t>Выполнил: студент гр. ПИКД-2</a:t>
            </a:r>
            <a:br/>
            <a:r>
              <a:t>Копаницкий З. 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Постановка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Транспортная задача:</a:t>
            </a:r>
          </a:p>
          <a:p>
            <a:br/>
            <a:r>
              <a:t>Оптимальная доставка однородного груза от поставщиков к потребителям.</a:t>
            </a:r>
            <a:br/>
            <a:br/>
            <a:r>
              <a:t>• C — тарифы перевозок</a:t>
            </a:r>
            <a:br/>
            <a:r>
              <a:t>• A — запасы поставщиков</a:t>
            </a:r>
            <a:br/>
            <a:r>
              <a:t>• B — запросы потребителей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Минимизация затрат:</a:t>
            </a:r>
          </a:p>
          <a:p>
            <a:pPr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
Z = ∑∑ cᵢⱼ • xᵢⱼ  →  min</a:t>
            </a:r>
          </a:p>
          <a:p>
            <a:br/>
            <a:r>
              <a:t>Ограничения: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xᵢⱼ = aᵢ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∑ xᵢⱼ = bⱼ</a:t>
            </a:r>
          </a:p>
          <a:p>
            <a:pPr>
              <a:defRPr sz="2200" b="1"/>
            </a:pPr>
            <a:r>
              <a:rPr sz="2200" b="1">
                <a:solidFill>
                  <a:srgbClr val="2563EB"/>
                </a:solidFill>
                <a:latin typeface="Arial"/>
              </a:rPr>
              <a:t>xᵢⱼ ≥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Назначение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1. Быстрое построение первоначального допустимого плана перевозок.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2. Учет реальных тарифов перевозок при составлении маршрутов.</a:t>
            </a:r>
            <a:br/>
            <a:endParaRPr/>
          </a:p>
          <a:p>
            <a:pPr>
              <a:defRPr sz="2400">
                <a:solidFill>
                  <a:srgbClr val="0F172A"/>
                </a:solidFill>
                <a:latin typeface="Calibri"/>
              </a:defRPr>
            </a:pPr>
            <a:r>
              <a:t>3. Значительное сокращение количества последующих шагов оптимизации.</a:t>
            </a:r>
            <a:br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Суть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Локальный («жадный») выбор</a:t>
            </a:r>
          </a:p>
          <a:p>
            <a:br/>
            <a:r>
              <a:t>Приоритетное заполнение клеток таблицы с наименьшей стоимостью перевозок.</a:t>
            </a:r>
            <a:br/>
            <a:br/>
            <a:r>
              <a:t>Максимально возможная отгрузка в дешевые ячейки с последующим исключением закрытых строк или столбцов.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Алгоритм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1. Найти клетку с минимальным тарифом cᵢⱼ.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2. Записать объем перевозки xᵢⱼ = min(aᵢ, bⱼ).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3. Вычесть xᵢⱼ из запасов aᵢ и потребностей bⱼ.</a:t>
            </a:r>
          </a:p>
          <a:p>
            <a:pPr>
              <a:spcAft>
                <a:spcPts val="1400"/>
              </a:spcAft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4. Вычеркнуть удовлетворенную строку (aᵢ=0) или столбец (bⱼ=0).</a:t>
            </a:r>
          </a:p>
          <a:p>
            <a:pPr>
              <a:defRPr sz="2200" b="0"/>
            </a:pPr>
            <a:r>
              <a:rPr sz="2200" b="0">
                <a:solidFill>
                  <a:srgbClr val="0F172A"/>
                </a:solidFill>
                <a:latin typeface="Arial"/>
              </a:rPr>
              <a:t>5. Повторять до полного распределения всех грузов.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Пример: Исходная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457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1 и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1. Распределение в клетку (A2, B2) с тарифом 1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x₂₂ = min(80, 90) = 80</a:t>
            </a:r>
          </a:p>
          <a:p>
            <a:pPr>
              <a:spcAft>
                <a:spcPts val="14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A2 исчерпаны. Спрос B2 снижается до 10.</a:t>
            </a:r>
            <a:br/>
            <a:endParaRPr/>
          </a:p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Шаг 2. Распределение в клетку (A1, B1) с тарифом 2</a:t>
            </a:r>
          </a:p>
          <a:p>
            <a:pPr>
              <a:spcAft>
                <a:spcPts val="400"/>
              </a:spcAft>
              <a:defRPr sz="2000" b="1"/>
            </a:pPr>
            <a:r>
              <a:rPr sz="2000" b="1">
                <a:solidFill>
                  <a:srgbClr val="0F172A"/>
                </a:solidFill>
                <a:latin typeface="Arial"/>
              </a:rPr>
              <a:t>x₁₁ = min(60, 70) = 60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Запасы поставщика A1 исчерпаны. Спрос B1 снижается до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Распределение: Шаги 3, 4 и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20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10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Распределение для строки A3 (запас 100)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3. Клетка (A3, B3) с тарифом 3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x₃₃ = min(100, 80) = 80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B3 полностью удовлетворен. Запас A3 снижается до 20.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4. Клетка (A3, B1) с тарифом 8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x₃₁ = min(20, 10) = 10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  Спрос B1 полностью удовлетворен. Запас A3 снижается до 10.</a:t>
            </a:r>
          </a:p>
          <a:p>
            <a:pPr>
              <a:defRPr sz="1600" b="1"/>
            </a:pPr>
            <a:r>
              <a:rPr sz="1600" b="1">
                <a:solidFill>
                  <a:srgbClr val="2563EB"/>
                </a:solidFill>
                <a:latin typeface="Arial"/>
              </a:rPr>
              <a:t>• Шаг 5. Клетка (A3, B2) с тарифом 11</a:t>
            </a:r>
          </a:p>
          <a:p>
            <a:pPr>
              <a:defRPr sz="1600" b="0"/>
            </a:pPr>
            <a:r>
              <a:rPr sz="1600" b="0">
                <a:solidFill>
                  <a:srgbClr val="0F172A"/>
                </a:solidFill>
                <a:latin typeface="Arial"/>
              </a:rPr>
              <a:t>  x₃₂ = min(10, 10) = 10</a:t>
            </a:r>
          </a:p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  Запас поставщика A3 и спрос потребителя B2 полностью исчерпаны.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Опорный план и стоимость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Пост. \ Потр.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Запасы 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Спрос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→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Расчет затрат Z:</a:t>
            </a:r>
          </a:p>
          <a:p>
            <a:pPr>
              <a:defRPr sz="2000" b="1"/>
            </a:pPr>
            <a:r>
              <a:rPr sz="2000" b="1">
                <a:solidFill>
                  <a:srgbClr val="2563EB"/>
                </a:solidFill>
                <a:latin typeface="Arial"/>
              </a:rPr>
              <a:t>Z = 60•2 + 80•1 + 80•3 + 10•8 + 10•11</a:t>
            </a:r>
          </a:p>
          <a:p>
            <a:pPr>
              <a:spcAft>
                <a:spcPts val="1400"/>
              </a:spcAft>
              <a:defRPr sz="2400" b="1"/>
            </a:pPr>
            <a:r>
              <a:rPr sz="2400" b="1">
                <a:solidFill>
                  <a:srgbClr val="2563EB"/>
                </a:solidFill>
                <a:latin typeface="Arial"/>
              </a:rPr>
              <a:t>Z = 630 ед.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Сравнение начальных планов:</a:t>
            </a:r>
            <a:br/>
            <a:endParaRPr/>
          </a:p>
          <a:p>
            <a:pPr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Мин. Элемента: Zₘᵢₙ = 630 ед.</a:t>
            </a:r>
          </a:p>
          <a:p>
            <a:pPr>
              <a:spcAft>
                <a:spcPts val="800"/>
              </a:spcAft>
              <a:defRPr sz="1800" b="0"/>
            </a:pPr>
            <a:r>
              <a:rPr sz="1800" b="0">
                <a:solidFill>
                  <a:srgbClr val="475569"/>
                </a:solidFill>
                <a:latin typeface="Arial"/>
              </a:rPr>
              <a:t>• Метод Сев.-Зап. угла: Zсз = 770 ед.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Экономия на первом шаге составляет более 18%!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Оценка метода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Arial"/>
              </a:defRPr>
            </a:pPr>
            <a:r>
              <a:t>Достоинства:</a:t>
            </a:r>
          </a:p>
          <a:p>
            <a:br/>
            <a:r>
              <a:t>• Простота расчетов.</a:t>
            </a:r>
            <a:br/>
            <a:r>
              <a:t>• Учет стоимостных тарифов.</a:t>
            </a:r>
            <a:br/>
            <a:r>
              <a:t>• Качественный начальный план.</a:t>
            </a:r>
            <a:br/>
            <a:r>
              <a:t>• Сокращение итераций оптимизации.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Недостатки:</a:t>
            </a:r>
          </a:p>
          <a:p>
            <a:br/>
            <a:r>
              <a:t>• Локальная «жадность».</a:t>
            </a:r>
            <a:br/>
            <a:r>
              <a:t>• Вынужденные дорогие перевозки на последних шагах.</a:t>
            </a:r>
            <a:br/>
            <a:r>
              <a:t>• Не гарантирует глобальный минимум стоимости.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Arial"/>
              </a:defRPr>
            </a:pPr>
            <a:r>
              <a:t>Метод минимального элемента —</a:t>
            </a:r>
          </a:p>
          <a:p>
            <a:br/>
            <a:r>
              <a:t>Оптимальный баланс простоты и качества начального решения.</a:t>
            </a:r>
            <a:br/>
            <a:br/>
            <a:r>
              <a:t>Он служит надежной и экономически выгодной отправной точкой для дальнейшего решения транспортных задач.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Широкоэкранный</PresentationFormat>
  <Paragraphs>170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Копаницкий Захар Александрович</cp:lastModifiedBy>
  <cp:revision>2</cp:revision>
  <dcterms:created xsi:type="dcterms:W3CDTF">2013-01-27T09:14:16Z</dcterms:created>
  <dcterms:modified xsi:type="dcterms:W3CDTF">2026-06-24T04:15:57Z</dcterms:modified>
  <cp:category/>
</cp:coreProperties>
</file>